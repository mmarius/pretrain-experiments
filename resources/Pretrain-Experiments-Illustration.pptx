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4300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  <a:latin typeface="Calibri"/>
              </a:rPr>
              <a:t>INPUTS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2011680" cy="59436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config.yaml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2011680" cy="73152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300" b="1">
                <a:solidFill>
                  <a:srgbClr val="1E3A8A"/>
                </a:solidFill>
                <a:latin typeface="Calibri"/>
              </a:rPr>
              <a:t>Data Interventions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.jsonl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7355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TRACKING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84448"/>
            <a:ext cx="2011680" cy="6217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92400E"/>
                </a:solidFill>
                <a:latin typeface="Calibri"/>
              </a:rPr>
              <a:t>Weights &amp; Biases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1271016"/>
            <a:ext cx="5138928" cy="31089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35331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Calibri"/>
              </a:rPr>
              <a:t>PRETRAIN-EXPERIMENTS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874519"/>
            <a:ext cx="1828800" cy="64008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500" b="1">
                <a:solidFill>
                  <a:srgbClr val="065F46"/>
                </a:solidFill>
                <a:latin typeface="Calibri"/>
              </a:rPr>
              <a:t>Insert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874519"/>
            <a:ext cx="1828800" cy="64008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500" b="1">
                <a:solidFill>
                  <a:srgbClr val="4C1D95"/>
                </a:solidFill>
                <a:latin typeface="Calibri"/>
              </a:rPr>
              <a:t>Train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3017520"/>
            <a:ext cx="1828800" cy="64008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500" b="1">
                <a:solidFill>
                  <a:srgbClr val="1E3A8A"/>
                </a:solidFill>
                <a:latin typeface="Calibri"/>
              </a:rPr>
              <a:t>Checkpoint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3017520"/>
            <a:ext cx="1828800" cy="7772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500" b="1">
                <a:solidFill>
                  <a:srgbClr val="92400E"/>
                </a:solidFill>
                <a:latin typeface="Calibri"/>
              </a:rPr>
              <a:t>Evaluate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Benchmark · Perplexity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271016"/>
            <a:ext cx="3017520" cy="2615184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135331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PRETRAINING FRAMEWORK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874519"/>
            <a:ext cx="25603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300" b="0">
                <a:solidFill>
                  <a:srgbClr val="4C1D95"/>
                </a:solidFill>
                <a:latin typeface="Calibri"/>
              </a:rPr>
              <a:t>OLMo-core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2514600"/>
            <a:ext cx="25603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300" b="0">
                <a:solidFill>
                  <a:srgbClr val="4C1D95"/>
                </a:solidFill>
                <a:latin typeface="Calibri"/>
              </a:rPr>
              <a:t>OLMo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3154680"/>
            <a:ext cx="25603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300" b="0">
                <a:solidFill>
                  <a:srgbClr val="4C1D95"/>
                </a:solidFill>
                <a:latin typeface="Calibri"/>
              </a:rPr>
              <a:t>...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194560"/>
            <a:ext cx="594360" cy="0"/>
          </a:xfrm>
          <a:prstGeom prst="line">
            <a:avLst/>
          </a:prstGeom>
          <a:ln w="31750">
            <a:solidFill>
              <a:srgbClr val="64748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20840" y="2514600"/>
            <a:ext cx="0" cy="502920"/>
          </a:xfrm>
          <a:prstGeom prst="line">
            <a:avLst/>
          </a:prstGeom>
          <a:ln w="31750">
            <a:solidFill>
              <a:srgbClr val="64748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212080" y="3337560"/>
            <a:ext cx="594360" cy="0"/>
          </a:xfrm>
          <a:prstGeom prst="line">
            <a:avLst/>
          </a:prstGeom>
          <a:ln w="31750">
            <a:solidFill>
              <a:srgbClr val="64748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297680" y="2514600"/>
            <a:ext cx="0" cy="502920"/>
          </a:xfrm>
          <a:prstGeom prst="line">
            <a:avLst/>
          </a:prstGeom>
          <a:ln w="31750">
            <a:solidFill>
              <a:srgbClr val="64748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14600" y="1805940"/>
            <a:ext cx="502920" cy="0"/>
          </a:xfrm>
          <a:prstGeom prst="line">
            <a:avLst/>
          </a:prstGeom>
          <a:ln w="31750">
            <a:solidFill>
              <a:srgbClr val="64748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14600" y="2697480"/>
            <a:ext cx="502920" cy="0"/>
          </a:xfrm>
          <a:prstGeom prst="line">
            <a:avLst/>
          </a:prstGeom>
          <a:ln w="31750">
            <a:solidFill>
              <a:srgbClr val="64748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2194560"/>
            <a:ext cx="1051560" cy="0"/>
          </a:xfrm>
          <a:prstGeom prst="line">
            <a:avLst/>
          </a:prstGeom>
          <a:ln w="31750">
            <a:solidFill>
              <a:srgbClr val="64748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514600" y="3895344"/>
            <a:ext cx="502920" cy="0"/>
          </a:xfrm>
          <a:prstGeom prst="line">
            <a:avLst/>
          </a:prstGeom>
          <a:ln w="31750">
            <a:solidFill>
              <a:srgbClr val="64748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