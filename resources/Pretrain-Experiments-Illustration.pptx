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430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INPUTS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2011680" cy="5943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config.yaml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2011680" cy="7315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>
                <a:solidFill>
                  <a:srgbClr val="1E3A8A"/>
                </a:solidFill>
                <a:latin typeface="Calibri"/>
              </a:rPr>
              <a:t>Data Interventions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Calibri"/>
              </a:rPr>
              <a:t>.jsonl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735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584448"/>
            <a:ext cx="2011680" cy="62179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92400E"/>
                </a:solidFill>
                <a:latin typeface="Calibri"/>
              </a:rPr>
              <a:t>Weights &amp; Biases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271016"/>
            <a:ext cx="5138928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3533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Calibri"/>
              </a:rPr>
              <a:t>PRETRAIN-EXPERIMENTS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74519"/>
            <a:ext cx="1828800" cy="6400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>
                <a:solidFill>
                  <a:srgbClr val="065F46"/>
                </a:solidFill>
                <a:latin typeface="Calibri"/>
              </a:rPr>
              <a:t>Insert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874519"/>
            <a:ext cx="1828800" cy="6400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>
                <a:solidFill>
                  <a:srgbClr val="4C1D95"/>
                </a:solidFill>
                <a:latin typeface="Calibri"/>
              </a:rPr>
              <a:t>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3017520"/>
            <a:ext cx="1828800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>
                <a:solidFill>
                  <a:srgbClr val="1E3A8A"/>
                </a:solidFill>
                <a:latin typeface="Calibri"/>
              </a:rPr>
              <a:t>Checkpoint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017520"/>
            <a:ext cx="182880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>
                <a:solidFill>
                  <a:srgbClr val="92400E"/>
                </a:solidFill>
                <a:latin typeface="Calibri"/>
              </a:rPr>
              <a:t>Evaluate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  <a:latin typeface="Calibri"/>
              </a:rPr>
              <a:t>Benchmark · Perplexity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271016"/>
            <a:ext cx="3017520" cy="2615184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35331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PRETRAINING FRAMEWORK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874519"/>
            <a:ext cx="2560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0">
                <a:solidFill>
                  <a:srgbClr val="4C1D95"/>
                </a:solidFill>
                <a:latin typeface="Calibri"/>
              </a:rPr>
              <a:t>OLMo-core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514600"/>
            <a:ext cx="2560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0">
                <a:solidFill>
                  <a:srgbClr val="4C1D95"/>
                </a:solidFill>
                <a:latin typeface="Calibri"/>
              </a:rPr>
              <a:t>OLMo-2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3154680"/>
            <a:ext cx="2560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0">
                <a:solidFill>
                  <a:srgbClr val="4C1D95"/>
                </a:solidFill>
                <a:latin typeface="Calibri"/>
              </a:rPr>
              <a:t>...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2194560"/>
            <a:ext cx="594360" cy="0"/>
          </a:xfrm>
          <a:prstGeom prst="line">
            <a:avLst/>
          </a:prstGeom>
          <a:ln w="3175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20840" y="2514600"/>
            <a:ext cx="0" cy="502920"/>
          </a:xfrm>
          <a:prstGeom prst="line">
            <a:avLst/>
          </a:prstGeom>
          <a:ln w="3175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212080" y="3337560"/>
            <a:ext cx="594360" cy="0"/>
          </a:xfrm>
          <a:prstGeom prst="line">
            <a:avLst/>
          </a:prstGeom>
          <a:ln w="3175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297680" y="2514600"/>
            <a:ext cx="0" cy="502920"/>
          </a:xfrm>
          <a:prstGeom prst="line">
            <a:avLst/>
          </a:prstGeom>
          <a:ln w="3175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14600" y="1805940"/>
            <a:ext cx="502920" cy="0"/>
          </a:xfrm>
          <a:prstGeom prst="line">
            <a:avLst/>
          </a:prstGeom>
          <a:ln w="3175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514600" y="2697480"/>
            <a:ext cx="502920" cy="0"/>
          </a:xfrm>
          <a:prstGeom prst="line">
            <a:avLst/>
          </a:prstGeom>
          <a:ln w="3175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35240" y="2194560"/>
            <a:ext cx="1051560" cy="0"/>
          </a:xfrm>
          <a:prstGeom prst="line">
            <a:avLst/>
          </a:prstGeom>
          <a:ln w="3175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514600" y="3895344"/>
            <a:ext cx="502920" cy="0"/>
          </a:xfrm>
          <a:prstGeom prst="line">
            <a:avLst/>
          </a:prstGeom>
          <a:ln w="3175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